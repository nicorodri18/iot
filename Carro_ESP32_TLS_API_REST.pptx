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00"/>
  </p:normalViewPr>
  <p:slideViewPr>
    <p:cSldViewPr snapToGrid="0" snapToObjects="1">
      <p:cViewPr>
        <p:scale>
          <a:sx n="113" d="100"/>
          <a:sy n="113" d="100"/>
        </p:scale>
        <p:origin x="296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7088" y="253140"/>
            <a:ext cx="4638416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3636" y="253140"/>
            <a:ext cx="4638416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52792" y="136525"/>
            <a:ext cx="4638416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86050" y="965580"/>
            <a:ext cx="3903366" cy="3160593"/>
          </a:xfrm>
        </p:spPr>
        <p:txBody>
          <a:bodyPr>
            <a:normAutofit/>
          </a:bodyPr>
          <a:lstStyle/>
          <a:p>
            <a:r>
              <a:rPr lang="es-CO" sz="4700">
                <a:solidFill>
                  <a:schemeClr val="bg1"/>
                </a:solidFill>
              </a:rPr>
              <a:t>Carro 2WD con ESP32, Web UI, MQTT con TLS y API REST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5612" y="4409960"/>
            <a:ext cx="3381481" cy="1116414"/>
          </a:xfrm>
        </p:spPr>
        <p:txBody>
          <a:bodyPr>
            <a:normAutofit/>
          </a:bodyPr>
          <a:lstStyle/>
          <a:p>
            <a:r>
              <a:rPr lang="es-CO" sz="1700">
                <a:solidFill>
                  <a:schemeClr val="bg1"/>
                </a:solidFill>
              </a:rPr>
              <a:t>Autores: Camilo Otálora · Juan Diego Martínez · Nicolás Rodríguez</a:t>
            </a:r>
          </a:p>
        </p:txBody>
      </p:sp>
      <p:sp>
        <p:nvSpPr>
          <p:cNvPr id="32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92206" y="975977"/>
            <a:ext cx="310173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4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92206" y="975977"/>
            <a:ext cx="310173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36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60710" y="1755501"/>
            <a:ext cx="1199121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9865" y="4236107"/>
            <a:ext cx="383241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9865" y="4236107"/>
            <a:ext cx="383241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4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48238" y="4175798"/>
            <a:ext cx="1396129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450655"/>
            <a:ext cx="2949023" cy="395669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CO" sz="5400">
                <a:solidFill>
                  <a:schemeClr val="bg1"/>
                </a:solidFill>
              </a:rPr>
              <a:t>Objetivo y requisitos del taller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450655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540857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108061"/>
            <a:ext cx="3756675" cy="4571972"/>
          </a:xfrm>
        </p:spPr>
        <p:txBody>
          <a:bodyPr anchor="ctr">
            <a:normAutofit/>
          </a:bodyPr>
          <a:lstStyle/>
          <a:p>
            <a:r>
              <a:rPr lang="es-CO" sz="1700">
                <a:solidFill>
                  <a:schemeClr val="bg1"/>
                </a:solidFill>
              </a:rPr>
              <a:t>Partir del robot 2WD ya construido</a:t>
            </a:r>
          </a:p>
          <a:p>
            <a:pPr lvl="1"/>
            <a:r>
              <a:rPr lang="es-CO" sz="1700">
                <a:solidFill>
                  <a:schemeClr val="bg1"/>
                </a:solidFill>
              </a:rPr>
              <a:t>Añadir detección de obstáculos con sensor ultrasónico (HC-SR04)</a:t>
            </a:r>
          </a:p>
          <a:p>
            <a:pPr lvl="1"/>
            <a:r>
              <a:rPr lang="es-CO" sz="1700">
                <a:solidFill>
                  <a:schemeClr val="bg1"/>
                </a:solidFill>
              </a:rPr>
              <a:t>Bloquear automáticamente solo el movimiento hacia adelante</a:t>
            </a:r>
          </a:p>
          <a:p>
            <a:pPr lvl="1"/>
            <a:r>
              <a:rPr lang="es-CO" sz="1700">
                <a:solidFill>
                  <a:schemeClr val="bg1"/>
                </a:solidFill>
              </a:rPr>
              <a:t>Publicar datos en un servidor MQTT</a:t>
            </a:r>
          </a:p>
          <a:p>
            <a:pPr lvl="1"/>
            <a:r>
              <a:rPr lang="es-CO" sz="1700">
                <a:solidFill>
                  <a:schemeClr val="bg1"/>
                </a:solidFill>
              </a:rPr>
              <a:t>Usar MQTT con cifrado TLS (puerto 8883)</a:t>
            </a:r>
          </a:p>
          <a:p>
            <a:pPr lvl="1"/>
            <a:r>
              <a:rPr lang="es-CO" sz="1700">
                <a:solidFill>
                  <a:schemeClr val="bg1"/>
                </a:solidFill>
              </a:rPr>
              <a:t>Exponer API REST: /api/v1/healthcheck y /api/v1/move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56" y="4583953"/>
            <a:ext cx="3514393" cy="14659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3200" kern="1200">
                <a:latin typeface="+mj-lt"/>
                <a:ea typeface="+mj-ea"/>
                <a:cs typeface="+mj-cs"/>
              </a:rPr>
              <a:t>Arquitectura general del sistema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A30E7DC-AF97-AAE5-3562-F5B55FF0F7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29" b="1449"/>
          <a:stretch>
            <a:fillRect/>
          </a:stretch>
        </p:blipFill>
        <p:spPr>
          <a:xfrm>
            <a:off x="20" y="432"/>
            <a:ext cx="9143980" cy="424475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4583953"/>
            <a:ext cx="4229100" cy="146597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/>
              <a:t>ESP32 como cerebro principal del robot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/>
              <a:t>Motores DC + puente H controlados por PWM (IN1–IN4, ENA, ENB)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/>
              <a:t>Sensor ultrasónico frontal HC-SR04 y encoder en la rueda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/>
              <a:t>Pantalla OLED 1.3" I2C (estado, velocidad, odometría, IP)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/>
              <a:t>Servidor web + API REST embebidos en el ESP32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/>
              <a:t>Cliente MQTT seguro hacia broker.hivemq.com:8883 (TLS)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692015" y="2701427"/>
            <a:ext cx="3415875" cy="269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 i="1"/>
            </a:pP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3914481" cy="1616203"/>
          </a:xfrm>
        </p:spPr>
        <p:txBody>
          <a:bodyPr anchor="b">
            <a:normAutofit/>
          </a:bodyPr>
          <a:lstStyle/>
          <a:p>
            <a:r>
              <a:rPr lang="es-CO" sz="2800"/>
              <a:t>Seguridad de comunicaciones: MQTT con TLS/SSL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3914480" cy="3537410"/>
          </a:xfrm>
        </p:spPr>
        <p:txBody>
          <a:bodyPr anchor="t">
            <a:normAutofit/>
          </a:bodyPr>
          <a:lstStyle/>
          <a:p>
            <a:r>
              <a:rPr lang="es-CO" sz="1600"/>
              <a:t>Cambio de WiFiClient a WiFiClientSecure</a:t>
            </a:r>
          </a:p>
          <a:p>
            <a:pPr lvl="1"/>
            <a:r>
              <a:rPr lang="es-CO" sz="1600"/>
              <a:t>MQTT_PORT 8883 en lugar de 1883 (canal cifrado)</a:t>
            </a:r>
          </a:p>
          <a:p>
            <a:pPr lvl="1"/>
            <a:r>
              <a:rPr lang="es-CO" sz="1600"/>
              <a:t>Cliente MQTT creado sobre secureClient (PubSubClient mqttClient(secureClient))</a:t>
            </a:r>
          </a:p>
          <a:p>
            <a:pPr lvl="1"/>
            <a:r>
              <a:rPr lang="es-CO" sz="1600"/>
              <a:t>Configuración TLS con secureClient.setInsecure() para simplificar pruebas</a:t>
            </a:r>
          </a:p>
          <a:p>
            <a:pPr lvl="1"/>
            <a:r>
              <a:rPr lang="es-CO" sz="1600"/>
              <a:t>Opción de mayor seguridad usando secureClient.setCACert(ca_cert)</a:t>
            </a:r>
          </a:p>
          <a:p>
            <a:pPr lvl="1"/>
            <a:r>
              <a:rPr lang="es-CO" sz="1600"/>
              <a:t>Función reconnectMQTT() mantiene la conexión TLS activa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01BC9C-60E5-2E89-013D-077108385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481" y="787114"/>
            <a:ext cx="2470162" cy="528377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54A2A4D-19EF-3552-F383-6AD9587C8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208F0F-2734-3945-8FD0-EEB19CF41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2CFF5D9-43B9-9D58-6F3F-25041716D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D9A475A2-DCB3-97C6-715E-2558A324D9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76" r="1" b="1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s-CO" sz="4200">
                <a:solidFill>
                  <a:schemeClr val="bg1"/>
                </a:solidFill>
              </a:rPr>
              <a:t>API REST v1: endpoints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CO" sz="1200">
                <a:solidFill>
                  <a:schemeClr val="bg1"/>
                </a:solidFill>
              </a:rPr>
              <a:t>GET /api/v1/healthcheck</a:t>
            </a:r>
          </a:p>
          <a:p>
            <a:pPr lvl="1">
              <a:lnSpc>
                <a:spcPct val="90000"/>
              </a:lnSpc>
            </a:pPr>
            <a:r>
              <a:rPr lang="es-CO" sz="1200">
                <a:solidFill>
                  <a:schemeClr val="bg1"/>
                </a:solidFill>
              </a:rPr>
              <a:t>   • Responde JSON con: wifi_connected, mqtt_connected, mqtt_tls, ip, uptime_ms</a:t>
            </a:r>
          </a:p>
          <a:p>
            <a:pPr lvl="1">
              <a:lnSpc>
                <a:spcPct val="90000"/>
              </a:lnSpc>
            </a:pPr>
            <a:r>
              <a:rPr lang="es-CO" sz="1200">
                <a:solidFill>
                  <a:schemeClr val="bg1"/>
                </a:solidFill>
              </a:rPr>
              <a:t>   • Incluye current_direction, obstacle_ahead y distance_cm</a:t>
            </a:r>
          </a:p>
          <a:p>
            <a:pPr lvl="1">
              <a:lnSpc>
                <a:spcPct val="90000"/>
              </a:lnSpc>
            </a:pPr>
            <a:r>
              <a:rPr lang="es-CO" sz="1200">
                <a:solidFill>
                  <a:schemeClr val="bg1"/>
                </a:solidFill>
              </a:rPr>
              <a:t>POST /api/v1/move (también GET)</a:t>
            </a:r>
          </a:p>
          <a:p>
            <a:pPr lvl="1">
              <a:lnSpc>
                <a:spcPct val="90000"/>
              </a:lnSpc>
            </a:pPr>
            <a:r>
              <a:rPr lang="es-CO" sz="1200">
                <a:solidFill>
                  <a:schemeClr val="bg1"/>
                </a:solidFill>
              </a:rPr>
              <a:t>   • Parámetros: direction (forward/backward/left/right/stop), speed (220–255)</a:t>
            </a:r>
          </a:p>
          <a:p>
            <a:pPr lvl="1">
              <a:lnSpc>
                <a:spcPct val="90000"/>
              </a:lnSpc>
            </a:pPr>
            <a:r>
              <a:rPr lang="es-CO" sz="1200">
                <a:solidFill>
                  <a:schemeClr val="bg1"/>
                </a:solidFill>
              </a:rPr>
              <a:t>   • Devuelve status, direction, speed, current_state, obstacle_ahead, timestamp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s-CO" sz="3100"/>
              <a:t>Lógica de movimiento y bloqueo solo adelante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E9C68C-16B5-4E0A-47F3-E93CA3A3A4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27" b="13093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CO" sz="1500"/>
              <a:t>Funciones de movimiento: adelante, atras, izquierda, derecha, stopMotors</a:t>
            </a:r>
          </a:p>
          <a:p>
            <a:pPr lvl="1">
              <a:lnSpc>
                <a:spcPct val="90000"/>
              </a:lnSpc>
            </a:pPr>
            <a:r>
              <a:rPr lang="es-CO" sz="1500"/>
              <a:t>ejecutarMovimiento(dir, speed) centraliza las órdenes de movimiento</a:t>
            </a:r>
          </a:p>
          <a:p>
            <a:pPr lvl="1">
              <a:lnSpc>
                <a:spcPct val="90000"/>
              </a:lnSpc>
            </a:pPr>
            <a:r>
              <a:rPr lang="es-CO" sz="1500"/>
              <a:t>Variable obstacleAhead indica si hay obstáculo en la trayectoria frontal</a:t>
            </a:r>
          </a:p>
          <a:p>
            <a:pPr lvl="1">
              <a:lnSpc>
                <a:spcPct val="90000"/>
              </a:lnSpc>
            </a:pPr>
            <a:r>
              <a:rPr lang="es-CO" sz="1500"/>
              <a:t>En adelante(): si obstacleAhead == true se frena el carro y se pasa a 'BLOQUEADO'</a:t>
            </a:r>
          </a:p>
          <a:p>
            <a:pPr lvl="1">
              <a:lnSpc>
                <a:spcPct val="90000"/>
              </a:lnSpc>
            </a:pPr>
            <a:r>
              <a:rPr lang="es-CO" sz="1500"/>
              <a:t>Movimientos hacia atrás y giros siguen permitidos aunque haya obstáculo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HC-SR04 Ultrasonic Distance Sensor - SparkFun | Mouser">
            <a:extLst>
              <a:ext uri="{FF2B5EF4-FFF2-40B4-BE49-F238E27FC236}">
                <a16:creationId xmlns:a16="http://schemas.microsoft.com/office/drawing/2014/main" id="{DE773C76-5BF3-6789-B6AB-4FB2C0915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24" r="1" b="25018"/>
          <a:stretch>
            <a:fillRect/>
          </a:stretch>
        </p:blipFill>
        <p:spPr bwMode="auto">
          <a:xfrm>
            <a:off x="469942" y="317578"/>
            <a:ext cx="8138333" cy="350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CO" sz="3600">
                <a:solidFill>
                  <a:schemeClr val="bg1"/>
                </a:solidFill>
              </a:rPr>
              <a:t>Sensor ultrasónico y seguridad con MQTT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CO" sz="1000">
                <a:solidFill>
                  <a:schemeClr val="bg1"/>
                </a:solidFill>
              </a:rPr>
              <a:t>Lectura periódica del HC-SR04 en checkProximitySafety()</a:t>
            </a:r>
          </a:p>
          <a:p>
            <a:pPr>
              <a:lnSpc>
                <a:spcPct val="90000"/>
              </a:lnSpc>
            </a:pPr>
            <a:endParaRPr lang="es-CO" sz="100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es-CO" sz="1000">
                <a:solidFill>
                  <a:schemeClr val="bg1"/>
                </a:solidFill>
              </a:rPr>
              <a:t>Umbral de seguridad: SAFETY_DISTANCE = 20 cm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s-CO" sz="100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es-CO" sz="1000">
                <a:solidFill>
                  <a:schemeClr val="bg1"/>
                </a:solidFill>
              </a:rPr>
              <a:t>Actualización de lastUltrasonicDistance y flag obstacleAhead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s-CO" sz="100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es-CO" sz="1000">
                <a:solidFill>
                  <a:schemeClr val="bg1"/>
                </a:solidFill>
              </a:rPr>
              <a:t>Si cambia el estado del obstáculo se decide frenar o permitir avance</a:t>
            </a:r>
          </a:p>
          <a:p>
            <a:pPr lvl="1">
              <a:lnSpc>
                <a:spcPct val="90000"/>
              </a:lnSpc>
            </a:pPr>
            <a:endParaRPr lang="es-CO" sz="1000">
              <a:solidFill>
                <a:schemeClr val="bg1"/>
              </a:solidFill>
            </a:endParaRPr>
          </a:p>
          <a:p>
            <a:pPr lvl="1">
              <a:lnSpc>
                <a:spcPct val="90000"/>
              </a:lnSpc>
            </a:pPr>
            <a:r>
              <a:rPr lang="es-CO" sz="1000">
                <a:solidFill>
                  <a:schemeClr val="bg1"/>
                </a:solidFill>
              </a:rPr>
              <a:t>Publicación en MQTT (esp32/car/distance) con JSON {distance, obstacle}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8721"/>
            <a:ext cx="3530753" cy="122565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CO" sz="2800">
                <a:solidFill>
                  <a:schemeClr val="bg1"/>
                </a:solidFill>
              </a:rPr>
              <a:t>Odometría, velocidad y display OLED</a:t>
            </a:r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3904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326" y="1909192"/>
            <a:ext cx="3439885" cy="36477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O" sz="1400">
                <a:solidFill>
                  <a:schemeClr val="bg1"/>
                </a:solidFill>
              </a:rPr>
              <a:t>Encoder en la rueda conectado a interrupción (encoderISR)</a:t>
            </a:r>
          </a:p>
          <a:p>
            <a:pPr lvl="1">
              <a:lnSpc>
                <a:spcPct val="90000"/>
              </a:lnSpc>
            </a:pPr>
            <a:r>
              <a:rPr lang="es-CO" sz="1400">
                <a:solidFill>
                  <a:schemeClr val="bg1"/>
                </a:solidFill>
              </a:rPr>
              <a:t>Cálculo de distancePerPulse con diámetro de la rueda y PULSES_PER_REVOLUTION</a:t>
            </a:r>
          </a:p>
          <a:p>
            <a:pPr lvl="1">
              <a:lnSpc>
                <a:spcPct val="90000"/>
              </a:lnSpc>
            </a:pPr>
            <a:r>
              <a:rPr lang="es-CO" sz="1400">
                <a:solidFill>
                  <a:schemeClr val="bg1"/>
                </a:solidFill>
              </a:rPr>
              <a:t>calculateDistanceMeters() obtiene los metros recorridos acumulados</a:t>
            </a:r>
          </a:p>
          <a:p>
            <a:pPr lvl="1">
              <a:lnSpc>
                <a:spcPct val="90000"/>
              </a:lnSpc>
            </a:pPr>
            <a:r>
              <a:rPr lang="es-CO" sz="1400">
                <a:solidFill>
                  <a:schemeClr val="bg1"/>
                </a:solidFill>
              </a:rPr>
              <a:t>calculateVelocity() estima la velocidad actual en km/h</a:t>
            </a:r>
          </a:p>
          <a:p>
            <a:pPr lvl="1">
              <a:lnSpc>
                <a:spcPct val="90000"/>
              </a:lnSpc>
            </a:pPr>
            <a:r>
              <a:rPr lang="es-CO" sz="1400">
                <a:solidFill>
                  <a:schemeClr val="bg1"/>
                </a:solidFill>
              </a:rPr>
              <a:t>Pantalla OLED muestra dirección, velocidad, distancia, odometría e IP</a:t>
            </a:r>
          </a:p>
          <a:p>
            <a:pPr lvl="1">
              <a:lnSpc>
                <a:spcPct val="90000"/>
              </a:lnSpc>
            </a:pPr>
            <a:r>
              <a:rPr lang="es-CO" sz="1400">
                <a:solidFill>
                  <a:schemeClr val="bg1"/>
                </a:solidFill>
              </a:rPr>
              <a:t>Modo alerta: 'OBSTÁCULO', distancia y banda 'DETENER!' parpadeando</a:t>
            </a:r>
          </a:p>
        </p:txBody>
      </p: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5520" y="5707672"/>
            <a:ext cx="353549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Módulo de Pantalla OLED (SSD1306) — documentación de SunFounder Universal  Maker Sensor Kit -">
            <a:extLst>
              <a:ext uri="{FF2B5EF4-FFF2-40B4-BE49-F238E27FC236}">
                <a16:creationId xmlns:a16="http://schemas.microsoft.com/office/drawing/2014/main" id="{94C40CB7-8D88-670B-1BD2-A7034FBCC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94089" y="1569664"/>
            <a:ext cx="4249911" cy="3718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5850" y="448721"/>
            <a:ext cx="3535497" cy="122565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CO" sz="2800">
                <a:solidFill>
                  <a:schemeClr val="bg1"/>
                </a:solidFill>
              </a:rPr>
              <a:t>Interfaz web y experiencia de usuario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3E0E15-0454-C3CD-C287-0E95D4D1E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35" y="0"/>
            <a:ext cx="3206114" cy="6858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895850" y="1749756"/>
            <a:ext cx="353872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5850" y="1909192"/>
            <a:ext cx="3535497" cy="36477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CO" sz="1600">
                <a:solidFill>
                  <a:schemeClr val="bg1"/>
                </a:solidFill>
              </a:rPr>
              <a:t>HTML, CSS y JavaScript embebidos en el ESP32 (PROGMEM)</a:t>
            </a:r>
          </a:p>
          <a:p>
            <a:pPr lvl="1">
              <a:lnSpc>
                <a:spcPct val="90000"/>
              </a:lnSpc>
            </a:pPr>
            <a:r>
              <a:rPr lang="es-CO" sz="1600">
                <a:solidFill>
                  <a:schemeClr val="bg1"/>
                </a:solidFill>
              </a:rPr>
              <a:t>Diseño futurista: fuente Orbitron, gradientes y efecto glass</a:t>
            </a:r>
          </a:p>
          <a:p>
            <a:pPr lvl="1">
              <a:lnSpc>
                <a:spcPct val="90000"/>
              </a:lnSpc>
            </a:pPr>
            <a:r>
              <a:rPr lang="es-CO" sz="1600">
                <a:solidFill>
                  <a:schemeClr val="bg1"/>
                </a:solidFill>
              </a:rPr>
              <a:t>Control del carro con slider de velocidad y botones de dirección</a:t>
            </a:r>
          </a:p>
          <a:p>
            <a:pPr lvl="1">
              <a:lnSpc>
                <a:spcPct val="90000"/>
              </a:lnSpc>
            </a:pPr>
            <a:r>
              <a:rPr lang="es-CO" sz="1600">
                <a:solidFill>
                  <a:schemeClr val="bg1"/>
                </a:solidFill>
              </a:rPr>
              <a:t>Consultas periódicas a /distance y /odometry para actualizar telemetría</a:t>
            </a:r>
          </a:p>
          <a:p>
            <a:pPr lvl="1">
              <a:lnSpc>
                <a:spcPct val="90000"/>
              </a:lnSpc>
            </a:pPr>
            <a:r>
              <a:rPr lang="es-CO" sz="1600">
                <a:solidFill>
                  <a:schemeClr val="bg1"/>
                </a:solidFill>
              </a:rPr>
              <a:t>Log de comandos enviados y badge de 'Conexión MQTT cifrada (TLS/SSL)'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895850" y="5707672"/>
            <a:ext cx="35354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Cloud shaped hard drive with cables">
            <a:extLst>
              <a:ext uri="{FF2B5EF4-FFF2-40B4-BE49-F238E27FC236}">
                <a16:creationId xmlns:a16="http://schemas.microsoft.com/office/drawing/2014/main" id="{604341F9-24E1-1C13-DE3E-FCFC3F4FE7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40" r="1" b="4659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s-CO" sz="4200">
                <a:solidFill>
                  <a:schemeClr val="bg1"/>
                </a:solidFill>
              </a:rPr>
              <a:t>Limitaciones, mejoras y 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CO" sz="1400" dirty="0">
                <a:solidFill>
                  <a:schemeClr val="bg1"/>
                </a:solidFill>
              </a:rPr>
              <a:t>Limitaciones actuales: </a:t>
            </a:r>
            <a:r>
              <a:rPr lang="es-CO" sz="1400" dirty="0" err="1">
                <a:solidFill>
                  <a:schemeClr val="bg1"/>
                </a:solidFill>
              </a:rPr>
              <a:t>setInsecure</a:t>
            </a:r>
            <a:r>
              <a:rPr lang="es-CO" sz="1400" dirty="0">
                <a:solidFill>
                  <a:schemeClr val="bg1"/>
                </a:solidFill>
              </a:rPr>
              <a:t>() sin validación de CA, una sola vista frontal, sin autenticación en web/API</a:t>
            </a:r>
          </a:p>
          <a:p>
            <a:pPr lvl="1">
              <a:lnSpc>
                <a:spcPct val="90000"/>
              </a:lnSpc>
            </a:pPr>
            <a:r>
              <a:rPr lang="es-CO" sz="1400" dirty="0">
                <a:solidFill>
                  <a:schemeClr val="bg1"/>
                </a:solidFill>
              </a:rPr>
              <a:t>Mejoras posibles: usar </a:t>
            </a:r>
            <a:r>
              <a:rPr lang="es-CO" sz="1400" dirty="0" err="1">
                <a:solidFill>
                  <a:schemeClr val="bg1"/>
                </a:solidFill>
              </a:rPr>
              <a:t>setCACert</a:t>
            </a:r>
            <a:r>
              <a:rPr lang="es-CO" sz="1400" dirty="0">
                <a:solidFill>
                  <a:schemeClr val="bg1"/>
                </a:solidFill>
              </a:rPr>
              <a:t>, añadir más sensores, autenticación y panel en la nube</a:t>
            </a:r>
          </a:p>
          <a:p>
            <a:pPr lvl="1">
              <a:lnSpc>
                <a:spcPct val="90000"/>
              </a:lnSpc>
            </a:pPr>
            <a:r>
              <a:rPr lang="es-CO" sz="1400" dirty="0">
                <a:solidFill>
                  <a:schemeClr val="bg1"/>
                </a:solidFill>
              </a:rPr>
              <a:t>Conclusión: integración de hardware, firmware, web UI, API REST y MQTT con TLS</a:t>
            </a:r>
          </a:p>
          <a:p>
            <a:pPr lvl="1">
              <a:lnSpc>
                <a:spcPct val="90000"/>
              </a:lnSpc>
            </a:pPr>
            <a:r>
              <a:rPr lang="es-CO" sz="1400" dirty="0">
                <a:solidFill>
                  <a:schemeClr val="bg1"/>
                </a:solidFill>
              </a:rPr>
              <a:t>Base sólida para evolucionar hacia un robot más autónomo, conectado y seguro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658</Words>
  <Application>Microsoft Macintosh PowerPoint</Application>
  <PresentationFormat>Presentación en pantalla 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Carro 2WD con ESP32, Web UI, MQTT con TLS y API REST</vt:lpstr>
      <vt:lpstr>Objetivo y requisitos del taller</vt:lpstr>
      <vt:lpstr>Arquitectura general del sistema</vt:lpstr>
      <vt:lpstr>Seguridad de comunicaciones: MQTT con TLS/SSL</vt:lpstr>
      <vt:lpstr>API REST v1: endpoints principales</vt:lpstr>
      <vt:lpstr>Lógica de movimiento y bloqueo solo adelante</vt:lpstr>
      <vt:lpstr>Sensor ultrasónico y seguridad con MQTT</vt:lpstr>
      <vt:lpstr>Odometría, velocidad y display OLED</vt:lpstr>
      <vt:lpstr>Interfaz web y experiencia de usuario</vt:lpstr>
      <vt:lpstr>Limitaciones, mejoras y 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Nicolas Rodriguez</cp:lastModifiedBy>
  <cp:revision>3</cp:revision>
  <dcterms:created xsi:type="dcterms:W3CDTF">2013-01-27T09:14:16Z</dcterms:created>
  <dcterms:modified xsi:type="dcterms:W3CDTF">2025-11-23T19:56:06Z</dcterms:modified>
  <cp:category/>
</cp:coreProperties>
</file>